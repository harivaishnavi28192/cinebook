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822960"/>
            <a:ext cx="10698480" cy="5212080"/>
          </a:xfrm>
          <a:prstGeom prst="roundRect">
            <a:avLst>
              <a:gd name="adj" fmla="val 5263"/>
            </a:avLst>
          </a:prstGeom>
          <a:solidFill>
            <a:srgbClr val="12161D"/>
          </a:solidFill>
          <a:ln w="19050">
            <a:solidFill>
              <a:srgbClr val="2B354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88720" y="1280160"/>
            <a:ext cx="3474720" cy="329184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 w="15240">
            <a:solidFill>
              <a:srgbClr val="FF6B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80160" y="1316736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FULL-STACK WEB PROJECT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88720" y="173736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Cine</a:t>
            </a:r>
            <a:pPr indent="0" marL="0">
              <a:buNone/>
            </a:pPr>
            <a:r>
              <a:rPr lang="en-US" sz="5400" b="1" i="1" dirty="0">
                <a:solidFill>
                  <a:srgbClr val="FF6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188720" y="2834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Movie Ticket Booking &amp; Inventory Management System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88720" y="33375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Engineered with React 19 (Vite), Node.js, Express.js REST APIs, and MongoDB Database Persistence with Reactive Motion &amp; Real-Time Seat Synchronization.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188720" y="4206240"/>
            <a:ext cx="4754880" cy="1371600"/>
          </a:xfrm>
          <a:prstGeom prst="roundRect">
            <a:avLst>
              <a:gd name="adj" fmla="val 13333"/>
            </a:avLst>
          </a:prstGeom>
          <a:solidFill>
            <a:srgbClr val="181E26"/>
          </a:solidFill>
          <a:ln w="12700">
            <a:solidFill>
              <a:srgbClr val="2B35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4343400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DEVELOPED &amp; PRESENTED BY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371600" y="4617720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Christy Vincelet A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(Reg: URK24CS1199)
</a:t>
            </a:r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Hari Vaishnavi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(Reg: URK24CS1238)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4206240"/>
            <a:ext cx="4754880" cy="1371600"/>
          </a:xfrm>
          <a:prstGeom prst="roundRect">
            <a:avLst>
              <a:gd name="adj" fmla="val 13333"/>
            </a:avLst>
          </a:prstGeom>
          <a:solidFill>
            <a:srgbClr val="181E26"/>
          </a:solidFill>
          <a:ln w="12700">
            <a:solidFill>
              <a:srgbClr val="2B35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4343400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ARCHITECTURE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0" y="461772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Frontend: </a:t>
            </a:r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 + Vite + Bootstrap 5
</a:t>
            </a:r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Backend: </a:t>
            </a:r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+ Express.js REST APIs
</a:t>
            </a:r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Database: </a:t>
            </a:r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MongoDB Community Server 9.0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4114800" cy="292608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 w="12700">
            <a:solidFill>
              <a:srgbClr val="FF6B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42976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OVERVIEW &amp; MOTIVATION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Overview &amp; Problem Statement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URK24CS1199 · Christy Vincelet A   |   URK24CS1238 · Hari Vaishnavi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JS · Node.js · Express · MongoDB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554480"/>
            <a:ext cx="5120640" cy="4572000"/>
          </a:xfrm>
          <a:prstGeom prst="roundRect">
            <a:avLst>
              <a:gd name="adj" fmla="val 5000"/>
            </a:avLst>
          </a:prstGeom>
          <a:solidFill>
            <a:srgbClr val="12161D"/>
          </a:solidFill>
          <a:ln w="15240">
            <a:solidFill>
              <a:srgbClr val="2B35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783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IN TRADITIONAL SYSTEMS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2148840"/>
            <a:ext cx="45720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Clunky User Interfaces:
</a:t>
            </a:r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Outdated aesthetics with poor contrast, no responsive feedback, and rigid layouts that frustrate users.
</a:t>
            </a:r>
            <a:pPr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Manual Inventory Discrepancies:
</a:t>
            </a:r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Failing to instantly update seat capacity causes double-booking or displaying sold-out shows as available.
</a:t>
            </a:r>
            <a:pPr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Complicated Cancellation Workflows:
</a:t>
            </a:r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platforms lack direct, zero-friction cancellation with immediate seat return back into box office stock.
</a:t>
            </a:r>
            <a:pPr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Fragmented Administration:
</a:t>
            </a:r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Cinema managers lack clean portals to create, edit, or purge movie schedules in real time.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212080" cy="4572000"/>
          </a:xfrm>
          <a:prstGeom prst="roundRect">
            <a:avLst>
              <a:gd name="adj" fmla="val 5000"/>
            </a:avLst>
          </a:prstGeom>
          <a:solidFill>
            <a:srgbClr val="12161D"/>
          </a:solidFill>
          <a:ln w="15240">
            <a:solidFill>
              <a:srgbClr val="FF6B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7830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CINEBOOK SOLUTION &amp; OBJECTIVES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92240" y="2148840"/>
            <a:ext cx="466344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Full CRUD Capabilities:
</a:t>
            </a:r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Comprehensive Create, Read, Update, Delete across both Movies and Customer Reservations.
</a:t>
            </a:r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Real-Time Seat Synchronization:
</a:t>
            </a:r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decrements available seats atomically; cancelling immediately restores capacity.
</a:t>
            </a:r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HealthTwin-Inspired Warm Editorial Design:
</a:t>
            </a:r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Editorial Fraunces typography, sunset orange gradients, floating glass header, and full-screen numbered menus.
</a:t>
            </a:r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Verified Admission Passes:
</a:t>
            </a:r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 digital ticket cards with authentic cutouts, showtimes, barcodes, and guest credentials.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4114800" cy="292608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 w="12700">
            <a:solidFill>
              <a:srgbClr val="FF6B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42976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ARCHITECTURE DESIGN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 &amp; Tier Structure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URK24CS1199 · Christy Vincelet A   |   URK24CS1238 · Hari Vaishnavi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JS · Node.js · Express · MongoDB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554480"/>
            <a:ext cx="3383280" cy="4572000"/>
          </a:xfrm>
          <a:prstGeom prst="roundRect">
            <a:avLst>
              <a:gd name="adj" fmla="val 6757"/>
            </a:avLst>
          </a:prstGeom>
          <a:solidFill>
            <a:srgbClr val="12161D"/>
          </a:solidFill>
          <a:ln w="15240">
            <a:solidFill>
              <a:srgbClr val="2B354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1783080"/>
            <a:ext cx="548640" cy="411480"/>
          </a:xfrm>
          <a:prstGeom prst="roundRect">
            <a:avLst>
              <a:gd name="adj" fmla="val 26667"/>
            </a:avLst>
          </a:prstGeom>
          <a:solidFill>
            <a:srgbClr val="FF6B2B"/>
          </a:solidFill>
          <a:ln w="12700">
            <a:solidFill>
              <a:srgbClr val="FF6B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7830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90B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691640" y="17830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23317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Client-Side SPA (React 19)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05840" y="2743200"/>
            <a:ext cx="283464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880360"/>
            <a:ext cx="28346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React 19 Functional Components &amp; Hooks
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Vite Bundler for sub-second HMR
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Axios HTTP Client for API integration
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React Router Dom v7 for SPA routing
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Custom Design System (Warm Sunset Theme)
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IntersectionObserver Motion Architecture
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0" y="1554480"/>
            <a:ext cx="3383280" cy="4572000"/>
          </a:xfrm>
          <a:prstGeom prst="roundRect">
            <a:avLst>
              <a:gd name="adj" fmla="val 6757"/>
            </a:avLst>
          </a:prstGeom>
          <a:solidFill>
            <a:srgbClr val="12161D"/>
          </a:solidFill>
          <a:ln w="15240">
            <a:solidFill>
              <a:srgbClr val="FF6B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1783080"/>
            <a:ext cx="548640" cy="411480"/>
          </a:xfrm>
          <a:prstGeom prst="roundRect">
            <a:avLst>
              <a:gd name="adj" fmla="val 26667"/>
            </a:avLst>
          </a:prstGeom>
          <a:solidFill>
            <a:srgbClr val="FF6B2B"/>
          </a:solidFill>
          <a:ln w="12700">
            <a:solidFill>
              <a:srgbClr val="FF6B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17830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90B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49240" y="17830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TIER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63440" y="23317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REST API (Node + Express)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83464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880360"/>
            <a:ext cx="28346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Express.js 5 Application Server (Port 7000)
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RESTful API Route Endpoints
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CORS Security &amp; JSON Middleware
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Business Logic &amp; Input Validation
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Concurrency &amp; Seat Count Restitution
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Error handling &amp; Uniform JSON payloads
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046720" y="1554480"/>
            <a:ext cx="3383280" cy="4572000"/>
          </a:xfrm>
          <a:prstGeom prst="roundRect">
            <a:avLst>
              <a:gd name="adj" fmla="val 6757"/>
            </a:avLst>
          </a:prstGeom>
          <a:solidFill>
            <a:srgbClr val="12161D"/>
          </a:solidFill>
          <a:ln w="15240">
            <a:solidFill>
              <a:srgbClr val="2B354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21040" y="1783080"/>
            <a:ext cx="548640" cy="411480"/>
          </a:xfrm>
          <a:prstGeom prst="roundRect">
            <a:avLst>
              <a:gd name="adj" fmla="val 26667"/>
            </a:avLst>
          </a:prstGeom>
          <a:solidFill>
            <a:srgbClr val="FF6B2B"/>
          </a:solidFill>
          <a:ln w="12700">
            <a:solidFill>
              <a:srgbClr val="FF6B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21040" y="17830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90B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006840" y="17830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PERSISTENCE TIER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321040" y="23317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(MongoDB + Mongoose)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321040" y="2743200"/>
            <a:ext cx="283464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21040" y="2880360"/>
            <a:ext cx="28346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MongoDB 9.0 Community Daemon (Port 27017)
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Mongoose 9 Object Data Modeling (ODM)
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Database name: 'moviebooking'
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Indexed Collection: 'movies'
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Transactional Collection: 'bookings'
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Live inspection via MongoDB Compass
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4114800" cy="292608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 w="12700">
            <a:solidFill>
              <a:srgbClr val="FF6B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42976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TECHNICAL SPECIFICATIONS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Technology Stack &amp; Development Tools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URK24CS1199 · Christy Vincelet A   |   URK24CS1238 · Hari Vaishnavi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JS · Node.js · Express · MongoDB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554480"/>
            <a:ext cx="3383280" cy="4572000"/>
          </a:xfrm>
          <a:prstGeom prst="roundRect">
            <a:avLst>
              <a:gd name="adj" fmla="val 6757"/>
            </a:avLst>
          </a:prstGeom>
          <a:solidFill>
            <a:srgbClr val="12161D"/>
          </a:solidFill>
          <a:ln w="15240">
            <a:solidFill>
              <a:srgbClr val="2B35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7830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STACK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05840" y="2148840"/>
            <a:ext cx="283464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331720"/>
            <a:ext cx="28346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&amp; Bundler: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19.3 + Vite 8.3 (ESM Modules)
</a:t>
            </a:r>
            <a:pPr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Styling Framework: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 5.3 + Custom CSS3 Design Tokens
</a:t>
            </a:r>
            <a:pPr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Iconography: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Tabler Icons Webfont + Bootstrap Icons
</a:t>
            </a:r>
            <a:pPr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Routing: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Router DOM v7 (Declarative Navigation)
</a:t>
            </a:r>
            <a:pPr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Client: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Axios v1.20 (Promise-based Async/Await)
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89120" y="1554480"/>
            <a:ext cx="3383280" cy="4572000"/>
          </a:xfrm>
          <a:prstGeom prst="roundRect">
            <a:avLst>
              <a:gd name="adj" fmla="val 6757"/>
            </a:avLst>
          </a:prstGeom>
          <a:solidFill>
            <a:srgbClr val="12161D"/>
          </a:solidFill>
          <a:ln w="15240">
            <a:solidFill>
              <a:srgbClr val="2B35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7830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STACK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2148840"/>
            <a:ext cx="283464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331720"/>
            <a:ext cx="28346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Engine: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(LTS Engine)
</a:t>
            </a:r>
            <a:pPr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Framework: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Express.js 5.3 (Fast, Unopinionated REST API)
</a:t>
            </a:r>
            <a:pPr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Driver: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Mongoose 9.11 ODM (Strict Schemas &amp; Models)
</a:t>
            </a:r>
            <a:pPr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Cross-Origin Sharing: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cors 2.8.6 Middleware for Port Decoupling
</a:t>
            </a:r>
            <a:pPr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Runner: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nodemon 3.1 for Real-Time Live Reloading
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46720" y="1554480"/>
            <a:ext cx="3383280" cy="4572000"/>
          </a:xfrm>
          <a:prstGeom prst="roundRect">
            <a:avLst>
              <a:gd name="adj" fmla="val 6757"/>
            </a:avLst>
          </a:prstGeom>
          <a:solidFill>
            <a:srgbClr val="12161D"/>
          </a:solidFill>
          <a:ln w="15240">
            <a:solidFill>
              <a:srgbClr val="2B35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17830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&amp; DEVOPS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321040" y="2148840"/>
            <a:ext cx="283464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2331720"/>
            <a:ext cx="28346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Engine: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MongoDB 9.0 Community Server (Local Daemon)
</a:t>
            </a:r>
            <a:pPr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GUI: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MongoDB Compass Desktop Client (Visual Admin)
</a:t>
            </a:r>
            <a:pPr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Control: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2.47 + GitHub Remote Repository
</a:t>
            </a:r>
            <a:pPr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Quality &amp; Linter: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oxlint v1.88 (Sub-50ms Multi-Threaded Linter)
</a:t>
            </a:r>
            <a:pPr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CLI Tool: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run db:view (Direct Terminal Table Output)
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4114800" cy="292608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 w="12700">
            <a:solidFill>
              <a:srgbClr val="FF6B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42976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DATABASE DESIGN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 Modeling &amp; Schema Architecture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URK24CS1199 · Christy Vincelet A   |   URK24CS1238 · Hari Vaishnavi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JS · Node.js · Express · MongoDB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554480"/>
            <a:ext cx="5120640" cy="4572000"/>
          </a:xfrm>
          <a:prstGeom prst="roundRect">
            <a:avLst>
              <a:gd name="adj" fmla="val 5000"/>
            </a:avLst>
          </a:prstGeom>
          <a:solidFill>
            <a:srgbClr val="12161D"/>
          </a:solidFill>
          <a:ln w="15240">
            <a:solidFill>
              <a:srgbClr val="FF6B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783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COLLECTION: 'movies'  (Movie Schema)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240280"/>
          <a:ext cx="47548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731520"/>
                <a:gridCol w="182880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6B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Field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6B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6B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6B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Constraints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E2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movieId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Unique movie code (e.g., M101, M102)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unique: true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title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Film title (e.g., Leo, Inception, Jawan)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required: true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genre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Categorization (Action, Sci-Fi, Drama)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required: true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duration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Number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duration measured in minutes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required: true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language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Audio language (Tamil, English, Hindi)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required: true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availableSeats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Number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seats left in theatre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min: 0, required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217920" y="1554480"/>
            <a:ext cx="5212080" cy="4572000"/>
          </a:xfrm>
          <a:prstGeom prst="roundRect">
            <a:avLst>
              <a:gd name="adj" fmla="val 5000"/>
            </a:avLst>
          </a:prstGeom>
          <a:solidFill>
            <a:srgbClr val="12161D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17830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COLLECTION: 'bookings'  (Booking Schema)</a:t>
            </a:r>
            <a:endParaRPr lang="en-US" sz="11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240280"/>
          <a:ext cx="48463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40080"/>
                <a:gridCol w="192024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Field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Constraints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E2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customerName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6B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Guest / Passenger full name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required: true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movieId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6B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Referenced movie identifier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required: true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movieTitle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6B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Snapshot of movie title at booking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required: true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showtime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6B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Screening slot (e.g. 10:00 AM, 6:00 PM)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required: true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seats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6B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Number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Quantity of reserved recliner seats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min: 1, required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6B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'Booked' or 'Cancelled'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default: 'Booked'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bookingDate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6B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ISO timestamp of transaction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default: Date.now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4114800" cy="292608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 w="12700">
            <a:solidFill>
              <a:srgbClr val="FF6B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42976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 BACKEND SPECIFICATIONS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RESTful API Architecture &amp; Endpoints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URK24CS1199 · Christy Vincelet A   |   URK24CS1238 · Hari Vaishnavi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JS · Node.js · Express · MongoDB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554480"/>
            <a:ext cx="10698480" cy="4572000"/>
          </a:xfrm>
          <a:prstGeom prst="roundRect">
            <a:avLst>
              <a:gd name="adj" fmla="val 5000"/>
            </a:avLst>
          </a:prstGeom>
          <a:solidFill>
            <a:srgbClr val="12161D"/>
          </a:solidFill>
          <a:ln w="15240">
            <a:solidFill>
              <a:srgbClr val="2B3542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737360"/>
          <a:ext cx="103327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828800"/>
                <a:gridCol w="1097280"/>
                <a:gridCol w="2926080"/>
                <a:gridCol w="3291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6B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 Method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6B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Endpoint URL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6B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CRUD Type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6B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Payload / Query Params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6B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Purpose &amp; Behavior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E2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/api/addMovie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 movieId, title, genre, duration, ... 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Creates a new movie in the 'movies' collection with seat limit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B8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/api/viewMovies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Retrieves all currently scheduled movies and their remaining seats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B8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/api/searchMovies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?title=searchQuery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Case-insensitive regex search query filtering movie titles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/api/updateMovie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 id, title, genre, duration, seats 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Modifies movie metadata and updates maximum seat quota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/api/deleteMovie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DELETE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 id }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Deletes movie and cascades cancellation to all related bookings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/api/bookTicket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 customerName, movieId, showtime, seats 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Validates capacity, decrements movie seats, and generates ticket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B8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/api/viewBookings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Fetches complete reservation history sorted by newest booking first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/api/cancelBooking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 id }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Sets status to 'Cancelled' and restores ticket seats back to movie capacity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/api/deleteBooking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DELETE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 id }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Permanently removes booking document from the database collection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5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4114800" cy="292608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 w="12700">
            <a:solidFill>
              <a:srgbClr val="FF6B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42976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06. WORKFLOW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Workflow: Ticket Booking &amp; Inventory Sync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URK24CS1199 · Christy Vincelet A   |   URK24CS1238 · Hari Vaishnavi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JS · Node.js · Express · MongoDB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645920"/>
            <a:ext cx="2011680" cy="4389120"/>
          </a:xfrm>
          <a:prstGeom prst="roundRect">
            <a:avLst>
              <a:gd name="adj" fmla="val 9091"/>
            </a:avLst>
          </a:prstGeom>
          <a:solidFill>
            <a:srgbClr val="12161D"/>
          </a:solidFill>
          <a:ln w="15240">
            <a:solidFill>
              <a:srgbClr val="2B35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SELECTION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68680" y="224028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Client Chooses Show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8680" y="2880360"/>
            <a:ext cx="173736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017520"/>
            <a:ext cx="17373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selects Movie, Showtime (10 AM / 1:30 PM / 6 PM / 9:30 PM), enters Customer Name and Seat Count on the React SPA.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07792" y="1645920"/>
            <a:ext cx="2011680" cy="4389120"/>
          </a:xfrm>
          <a:prstGeom prst="roundRect">
            <a:avLst>
              <a:gd name="adj" fmla="val 9091"/>
            </a:avLst>
          </a:prstGeom>
          <a:solidFill>
            <a:srgbClr val="12161D"/>
          </a:solidFill>
          <a:ln w="15240">
            <a:solidFill>
              <a:srgbClr val="2B35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4952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DISPATCH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044952" y="224028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Axios API Request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044952" y="2880360"/>
            <a:ext cx="173736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4952" y="3017520"/>
            <a:ext cx="17373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sends async POST payload to Express: { customerName, movieId, showtime, seats } via Axios.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4064" y="1645920"/>
            <a:ext cx="2011680" cy="4389120"/>
          </a:xfrm>
          <a:prstGeom prst="roundRect">
            <a:avLst>
              <a:gd name="adj" fmla="val 9091"/>
            </a:avLst>
          </a:prstGeom>
          <a:solidFill>
            <a:srgbClr val="12161D"/>
          </a:solidFill>
          <a:ln w="15240">
            <a:solidFill>
              <a:srgbClr val="FF6B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21224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VALIDATION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221224" y="224028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Server Inventory Check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221224" y="2880360"/>
            <a:ext cx="173736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21224" y="3017520"/>
            <a:ext cx="17373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 queries MongoDB: verifies movie exists and availableSeats &gt;= requestedSeats to prevent overbooking.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260336" y="1645920"/>
            <a:ext cx="2011680" cy="4389120"/>
          </a:xfrm>
          <a:prstGeom prst="roundRect">
            <a:avLst>
              <a:gd name="adj" fmla="val 9091"/>
            </a:avLst>
          </a:prstGeom>
          <a:solidFill>
            <a:srgbClr val="12161D"/>
          </a:solidFill>
          <a:ln w="15240">
            <a:solidFill>
              <a:srgbClr val="FF6B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97496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ATOMIC UPDATE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397496" y="224028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Seat Decrement &amp; Save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397496" y="2880360"/>
            <a:ext cx="173736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97496" y="3017520"/>
            <a:ext cx="17373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decrements movie.availableSeats, saves new Booking document into MongoDB 'bookings' collection.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436608" y="1645920"/>
            <a:ext cx="2011680" cy="4389120"/>
          </a:xfrm>
          <a:prstGeom prst="roundRect">
            <a:avLst>
              <a:gd name="adj" fmla="val 9091"/>
            </a:avLst>
          </a:prstGeom>
          <a:solidFill>
            <a:srgbClr val="12161D"/>
          </a:solidFill>
          <a:ln w="15240">
            <a:solidFill>
              <a:srgbClr val="2B354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573768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5: CONFIRMATION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573768" y="224028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 Issuance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573768" y="2880360"/>
            <a:ext cx="173736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573768" y="3017520"/>
            <a:ext cx="17373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returns confirmed status; React transitions to digital ticket view with barcode reference and triggers auto-reload.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4114800" cy="292608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 w="12700">
            <a:solidFill>
              <a:srgbClr val="FF6B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42976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07. WORKFLOW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Workflow: Ticket Cancellation &amp; Restitution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URK24CS1199 · Christy Vincelet A   |   URK24CS1238 · Hari Vaishnavi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JS · Node.js · Express · MongoDB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645920"/>
            <a:ext cx="2011680" cy="4389120"/>
          </a:xfrm>
          <a:prstGeom prst="roundRect">
            <a:avLst>
              <a:gd name="adj" fmla="val 9091"/>
            </a:avLst>
          </a:prstGeom>
          <a:solidFill>
            <a:srgbClr val="12161D"/>
          </a:solidFill>
          <a:ln w="15240">
            <a:solidFill>
              <a:srgbClr val="2B35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68680" y="224028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Cancellation Intent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8680" y="2880360"/>
            <a:ext cx="173736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017520"/>
            <a:ext cx="17373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clicks 'Cancel' on active booking in the My Bookings view (/bookings). ConfirmModal renders an alert dialog.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07792" y="1645920"/>
            <a:ext cx="2011680" cy="4389120"/>
          </a:xfrm>
          <a:prstGeom prst="roundRect">
            <a:avLst>
              <a:gd name="adj" fmla="val 9091"/>
            </a:avLst>
          </a:prstGeom>
          <a:solidFill>
            <a:srgbClr val="12161D"/>
          </a:solidFill>
          <a:ln w="15240">
            <a:solidFill>
              <a:srgbClr val="2B35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4952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044952" y="224028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Modal Safeguard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044952" y="2880360"/>
            <a:ext cx="173736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4952" y="3017520"/>
            <a:ext cx="17373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confirms action in modal; frontend dispatches POST /api/cancelBooking with the target booking ID { id }.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4064" y="1645920"/>
            <a:ext cx="2011680" cy="4389120"/>
          </a:xfrm>
          <a:prstGeom prst="roundRect">
            <a:avLst>
              <a:gd name="adj" fmla="val 9091"/>
            </a:avLst>
          </a:prstGeom>
          <a:solidFill>
            <a:srgbClr val="12161D"/>
          </a:solidFill>
          <a:ln w="15240">
            <a:solidFill>
              <a:srgbClr val="2B35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21224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221224" y="224028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Transition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221224" y="2880360"/>
            <a:ext cx="173736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21224" y="3017520"/>
            <a:ext cx="17373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 server queries MongoDB: checks if status === 'Cancelled' already. If active, updates booking.status = 'Cancelled'.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260336" y="1645920"/>
            <a:ext cx="2011680" cy="4389120"/>
          </a:xfrm>
          <a:prstGeom prst="roundRect">
            <a:avLst>
              <a:gd name="adj" fmla="val 9091"/>
            </a:avLst>
          </a:prstGeom>
          <a:solidFill>
            <a:srgbClr val="12161D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97496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4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397496" y="224028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Seat Restitution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397496" y="2880360"/>
            <a:ext cx="173736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97496" y="3017520"/>
            <a:ext cx="17373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retrieves corresponding movie by movieId and automatically adds seats back: availableSeats += booking.seats.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436608" y="1645920"/>
            <a:ext cx="2011680" cy="4389120"/>
          </a:xfrm>
          <a:prstGeom prst="roundRect">
            <a:avLst>
              <a:gd name="adj" fmla="val 9091"/>
            </a:avLst>
          </a:prstGeom>
          <a:solidFill>
            <a:srgbClr val="12161D"/>
          </a:solidFill>
          <a:ln w="15240">
            <a:solidFill>
              <a:srgbClr val="2B354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573768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5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573768" y="224028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Sync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573768" y="2880360"/>
            <a:ext cx="173736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573768" y="3017520"/>
            <a:ext cx="17373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saves changes; client receives success message, reloads booking and movie states, and updates badge indicators.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4114800" cy="292608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 w="12700">
            <a:solidFill>
              <a:srgbClr val="FF6B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42976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08. USER EXPERIENCE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UI/UX Engineering &amp; Editorial Motion Design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URK24CS1199 · Christy Vincelet A   |   URK24CS1238 · Hari Vaishnavi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JS · Node.js · Express · MongoDB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645920"/>
            <a:ext cx="3383280" cy="2103120"/>
          </a:xfrm>
          <a:prstGeom prst="roundRect">
            <a:avLst>
              <a:gd name="adj" fmla="val 8696"/>
            </a:avLst>
          </a:prstGeom>
          <a:solidFill>
            <a:srgbClr val="12161D"/>
          </a:solidFill>
          <a:ln w="12700">
            <a:solidFill>
              <a:srgbClr val="2B35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82880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 Sunset Color Palette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2286000"/>
            <a:ext cx="29260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Replaced harsh cinema red with sophisticated shades of radiant orange (#FF6B2B), burnt terracotta (#EA580C), golden amber (#F59E0B), and obsidian dark slate (#090B0E).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89120" y="1645920"/>
            <a:ext cx="3383280" cy="2103120"/>
          </a:xfrm>
          <a:prstGeom prst="roundRect">
            <a:avLst>
              <a:gd name="adj" fmla="val 8696"/>
            </a:avLst>
          </a:prstGeom>
          <a:solidFill>
            <a:srgbClr val="12161D"/>
          </a:solidFill>
          <a:ln w="12700">
            <a:solidFill>
              <a:srgbClr val="2B35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182880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Editorial Typography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17720" y="2286000"/>
            <a:ext cx="29260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Google Fonts Fraunces display serif with optical sizing for headlines and DM Sans for clean readability, enriched with bespoke italic emphasis tags.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46720" y="1645920"/>
            <a:ext cx="3383280" cy="2103120"/>
          </a:xfrm>
          <a:prstGeom prst="roundRect">
            <a:avLst>
              <a:gd name="adj" fmla="val 8696"/>
            </a:avLst>
          </a:prstGeom>
          <a:solidFill>
            <a:srgbClr val="12161D"/>
          </a:solidFill>
          <a:ln w="12700">
            <a:solidFill>
              <a:srgbClr val="2B35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5320" y="182880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SVG Cinema Pulse Preloader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2286000"/>
            <a:ext cx="29260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Animated SVG pulse path loader with glowing orange strokes and CineBook brand mark that smoothly disappears upon application hydration.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3931920"/>
            <a:ext cx="3383280" cy="2103120"/>
          </a:xfrm>
          <a:prstGeom prst="roundRect">
            <a:avLst>
              <a:gd name="adj" fmla="val 8696"/>
            </a:avLst>
          </a:prstGeom>
          <a:solidFill>
            <a:srgbClr val="12161D"/>
          </a:solidFill>
          <a:ln w="12700">
            <a:solidFill>
              <a:srgbClr val="2B35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11480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Scroll Reveal Animations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" y="4572000"/>
            <a:ext cx="29260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Engineered useScrollReveal React hook utilizing IntersectionObserver to trigger smooth cubic ease-out fade-ups with custom delay variables (--d).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89120" y="3931920"/>
            <a:ext cx="3383280" cy="2103120"/>
          </a:xfrm>
          <a:prstGeom prst="roundRect">
            <a:avLst>
              <a:gd name="adj" fmla="val 8696"/>
            </a:avLst>
          </a:prstGeom>
          <a:solidFill>
            <a:srgbClr val="12161D"/>
          </a:solidFill>
          <a:ln w="12700">
            <a:solidFill>
              <a:srgbClr val="2B35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0" y="411480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Interactive 3D Ticket Parallax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617720" y="4572000"/>
            <a:ext cx="29260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mouse move event listener creates a dynamic 3D tilt perspective on the featured hero ticket with play badge hover reveals.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046720" y="3931920"/>
            <a:ext cx="3383280" cy="2103120"/>
          </a:xfrm>
          <a:prstGeom prst="roundRect">
            <a:avLst>
              <a:gd name="adj" fmla="val 8696"/>
            </a:avLst>
          </a:prstGeom>
          <a:solidFill>
            <a:srgbClr val="12161D"/>
          </a:solidFill>
          <a:ln w="12700">
            <a:solidFill>
              <a:srgbClr val="2B354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75320" y="411480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Glassmorphic Header &amp; Fullscreen Menu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75320" y="4572000"/>
            <a:ext cx="29260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navigation bar with backdrop blur, smart scroll hide/reveal behavior, and full-screen numbered menu overlay (01 to 05) with quick action cards.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4114800" cy="292608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 w="12700">
            <a:solidFill>
              <a:srgbClr val="FF6B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42976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09. VIVA DEMONSTRATION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Database Verification &amp; Demonstration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URK24CS1199 · Christy Vincelet A   |   URK24CS1238 · Hari Vaishnavi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JS · Node.js · Express · MongoDB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554480"/>
            <a:ext cx="5120640" cy="4572000"/>
          </a:xfrm>
          <a:prstGeom prst="roundRect">
            <a:avLst>
              <a:gd name="adj" fmla="val 5000"/>
            </a:avLst>
          </a:prstGeom>
          <a:solidFill>
            <a:srgbClr val="12161D"/>
          </a:solidFill>
          <a:ln w="15240">
            <a:solidFill>
              <a:srgbClr val="FF6B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783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METHOD 1: MONGODB COMPASS GUI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2148840"/>
            <a:ext cx="45720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Connection Setup:
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MongoDB Compass -&gt; connect to default URI: mongodb://localhost:27017
</a:t>
            </a:r>
            <a:pPr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Database Selection:
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 to the 'moviebooking' database to view the 'movies' and 'bookings' collections.
</a:t>
            </a:r>
            <a:pPr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Real-Time Document Inspection:
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store JSON fields: movieId, title, availableSeats, customerName, and status.
</a:t>
            </a:r>
            <a:pPr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Live Action Reflection:
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or cancel a ticket on the web UI, press Compass Refresh (🔄), and the new record/status update appears immediately.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212080" cy="4572000"/>
          </a:xfrm>
          <a:prstGeom prst="roundRect">
            <a:avLst>
              <a:gd name="adj" fmla="val 5000"/>
            </a:avLst>
          </a:prstGeom>
          <a:solidFill>
            <a:srgbClr val="12161D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7830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METHOD 2: TERMINAL CLI (npm run db:view)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92240" y="2148840"/>
            <a:ext cx="466344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Dedicated CLI Inspection Utility:
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server-app/view-db.js connected directly via Mongoose ODM.
</a:t>
            </a:r>
            <a:pPr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Instant Terminal Tables:
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'npm run db:view' inside server-app to render live ASCII formatted tables of movies and reservations.
</a:t>
            </a:r>
            <a:pPr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Instant Verification for Evaluators:
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Displays Ticket ID, Customer, Movie Title, Showtime, Seats, Status, and Date in tabular formatting.
</a:t>
            </a:r>
            <a:pPr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Zero Third-Party Dependency:
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be executed anywhere without opening external database browser tools.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4114800" cy="292608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 w="12700">
            <a:solidFill>
              <a:srgbClr val="FF6B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42976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PROBLEM SOLVING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Challenges &amp; Engineering Solutions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URK24CS1199 · Christy Vincelet A   |   URK24CS1238 · Hari Vaishnavi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JS · Node.js · Express · MongoDB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645920"/>
            <a:ext cx="5212080" cy="2103120"/>
          </a:xfrm>
          <a:prstGeom prst="roundRect">
            <a:avLst>
              <a:gd name="adj" fmla="val 8696"/>
            </a:avLst>
          </a:prstGeom>
          <a:solidFill>
            <a:srgbClr val="12161D"/>
          </a:solidFill>
          <a:ln w="12700">
            <a:solidFill>
              <a:srgbClr val="2B35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01. Seat Overbooking &amp; Inventory Contention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2194560"/>
            <a:ext cx="47548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Concurrent users attempting to book the last available seats simultaneously.
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</a:t>
            </a:r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 pre-save capacity checks on the backend verifying availableSeats &gt;= requestedSeats before persisting bookings and decrementing inventory.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645920"/>
            <a:ext cx="5212080" cy="2103120"/>
          </a:xfrm>
          <a:prstGeom prst="roundRect">
            <a:avLst>
              <a:gd name="adj" fmla="val 8696"/>
            </a:avLst>
          </a:prstGeom>
          <a:solidFill>
            <a:srgbClr val="12161D"/>
          </a:solidFill>
          <a:ln w="12700">
            <a:solidFill>
              <a:srgbClr val="2B35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02. Two-Way Collection Synchronization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46520" y="2194560"/>
            <a:ext cx="47548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Cancelling a ticket must update both the booking document and the movie inventory.
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</a:t>
            </a:r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Engineered cancellation API logic that updates booking.status to 'Cancelled' and automatically executes availableSeats += booking.seats.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931920"/>
            <a:ext cx="5212080" cy="2103120"/>
          </a:xfrm>
          <a:prstGeom prst="roundRect">
            <a:avLst>
              <a:gd name="adj" fmla="val 8696"/>
            </a:avLst>
          </a:prstGeom>
          <a:solidFill>
            <a:srgbClr val="12161D"/>
          </a:solidFill>
          <a:ln w="12700">
            <a:solidFill>
              <a:srgbClr val="2B35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114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03. React 19 Hydration &amp; Effect Cascades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480560"/>
            <a:ext cx="47548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React Compiler rules trigger warnings when setState is executed synchronously inside effects.
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</a:t>
            </a:r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Migrated state initializers to callback patterns, derived values during render, and passed oxlint check with 0 warnings.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17920" y="3931920"/>
            <a:ext cx="5212080" cy="2103120"/>
          </a:xfrm>
          <a:prstGeom prst="roundRect">
            <a:avLst>
              <a:gd name="adj" fmla="val 8696"/>
            </a:avLst>
          </a:prstGeom>
          <a:solidFill>
            <a:srgbClr val="12161D"/>
          </a:solidFill>
          <a:ln w="12700">
            <a:solidFill>
              <a:srgbClr val="2B35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4114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04. Fixed Header Navigation Spacing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46520" y="4480560"/>
            <a:ext cx="47548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glassmorphic header caused overlapping collisions with page title banners.
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</a:t>
            </a:r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exact 76px header height offset and tailored padding-top to 78px with compact container padding for a snug, professional layout.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9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4114800" cy="292608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 w="12700">
            <a:solidFill>
              <a:srgbClr val="FF6B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42976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CONCLUSION &amp; FUTURE SCOPE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Summary &amp; Future Horizons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2700">
            <a:solidFill>
              <a:srgbClr val="2B35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URK24CS1199 · Christy Vincelet A   |   URK24CS1238 · Hari Vaishnavi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JS · Node.js · Express · MongoDB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554480"/>
            <a:ext cx="5120640" cy="4572000"/>
          </a:xfrm>
          <a:prstGeom prst="roundRect">
            <a:avLst>
              <a:gd name="adj" fmla="val 5000"/>
            </a:avLst>
          </a:prstGeom>
          <a:solidFill>
            <a:srgbClr val="12161D"/>
          </a:solidFill>
          <a:ln w="15240">
            <a:solidFill>
              <a:srgbClr val="2B35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783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OUTCOMES &amp; ACHIEVEMENTS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2148840"/>
            <a:ext cx="45720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Full-Stack MERN Architecture:
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Successfully built and deployed a production-grade cinema ticketing solution connecting React, Express, and MongoDB.
</a:t>
            </a:r>
            <a:pPr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Complete CRUD Lifecycle:
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9 RESTful endpoints verified with atomic inventory synchronization and cascading record cleanup.
</a:t>
            </a:r>
            <a:pPr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High-End Editorial Aesthetics:
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Engineered warm sunset color palette, Fraunces serif typography, 3D parallax hero card, and smooth reveal animations.
</a:t>
            </a:r>
            <a:pPr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Robust Quality Assurance:
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lint errors, strict schema validations, and direct CLI inspection tooling.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212080" cy="4572000"/>
          </a:xfrm>
          <a:prstGeom prst="roundRect">
            <a:avLst>
              <a:gd name="adj" fmla="val 5000"/>
            </a:avLst>
          </a:prstGeom>
          <a:solidFill>
            <a:srgbClr val="12161D"/>
          </a:solidFill>
          <a:ln w="15240">
            <a:solidFill>
              <a:srgbClr val="FF6B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7830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6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ENHANCEMENTS ROADMAP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92240" y="2148840"/>
            <a:ext cx="466344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Interactive 2D Seat Matrix:
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seating layout enabling users to pick specific recliner row and column positions.
</a:t>
            </a:r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Payment Gateway Integration:
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Securing live checkout via Razorpay / Stripe for automated UPI, card, and net banking processing.
</a:t>
            </a:r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Automated QR Code &amp; Email Tickets:
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Nodemailer integration to email verified PDF admission passes with scannable QR codes.
</a:t>
            </a:r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Multi-Screen &amp; Theatre Franchise Scaling:
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Extending database schema to support multiple cinema venues, screens (Screen 1, IMAX, 4DX), and pricing tiers.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 standalone="yes"?>
<Properties xmlns="http://schemas.openxmlformats.org/officeDocument/2006/extended-properties" xmlns:vt="http://schemas.openxmlformats.org/officeDocument/2006/docPropsVTypes">
	<TotalTime>0</TotalTime>
	<Words>0</Words>
	<Application>Microsoft Office PowerPoint</Application>
	<PresentationFormat>On-screen Show (16:9)</PresentationFormat>
	<Paragraphs>0</Paragraphs>
	<Slides>12</Slides>
	<Notes>12</Notes>
	<HiddenSlides>0</HiddenSlides>
	<MMClips>0</MMClips>
	<ScaleCrop>false</ScaleCrop>
	<HeadingPairs>
		<vt:vector size="6" baseType="variant">
			<vt:variant><vt:lpstr>Fonts Used</vt:lpstr></vt:variant>
			<vt:variant><vt:i4>2</vt:i4></vt:variant>
			<vt:variant><vt:lpstr>Theme</vt:lpstr></vt:variant>
			<vt:variant><vt:i4>1</vt:i4></vt:variant>
			<vt:variant><vt:lpstr>Slide Titles</vt:lpstr></vt:variant>
			<vt:variant><vt:i4>12</vt:i4></vt:variant>
		</vt:vector>
	</HeadingPairs>
	<TitlesOfParts>
		<vt:vector size="15" baseType="lpstr">
			<vt:lpstr>Arial</vt:lpstr>
			<vt:lpstr>Calibri</vt:lpstr>
			<vt:lpstr>Office Theme</vt:lpstr>
			<vt:lpstr>Slide 1</vt:lpstr><vt:lpstr>Slide 2</vt:lpstr><vt:lpstr>Slide 3</vt:lpstr><vt:lpstr>Slide 4</vt:lpstr><vt:lpstr>Slide 5</vt:lpstr><vt:lpstr>Slide 6</vt:lpstr><vt:lpstr>Slide 7</vt:lpstr><vt:lpstr>Slide 8</vt:lpstr><vt:lpstr>Slide 9</vt:lpstr><vt:lpstr>Slide 10</vt:lpstr><vt:lpstr>Slide 11</vt:lpstr><vt:lpstr>Slide 12</vt:lpstr>
		</vt:vector>
	</TitlesOfParts>
	<Company>Department of Computer Science & Engineering</Company>
	<LinksUpToDate>false</LinksUpToDate>
	<SharedDoc>false</SharedDoc>
	<HyperlinksChanged>false</HyperlinksChanged>
	<AppVersion>16.0000</AppVersion>
	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CineBook — Movie Ticket Booking System</dc:title>
  <dc:subject>Full-Stack Web Development Project Presentation</dc:subject>
  <dc:creator>Christy Vincelet A &amp; Hari Vaishnavi</dc:creator>
  <cp:lastModifiedBy>Christy Vincelet A &amp; Hari Vaishnavi</cp:lastModifiedBy>
  <cp:revision>1</cp:revision>
  <dcterms:created xsi:type="dcterms:W3CDTF">2026-10-25T12:58:06Z</dcterms:created>
  <dcterms:modified xsi:type="dcterms:W3CDTF">2026-10-25T12:58:06Z</dcterms:modified>
</cp:coreProperties>
</file>